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hmad\Desktop\data_analist_allthing\marketing\assets\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54748" y="1231999"/>
            <a:ext cx="3727252" cy="342900"/>
          </a:xfrm>
          <a:prstGeom prst="roundRect">
            <a:avLst>
              <a:gd name="adj" fmla="val 74074"/>
            </a:avLst>
          </a:prstGeom>
          <a:solidFill>
            <a:srgbClr val="1E2A44"/>
          </a:solidFill>
          <a:ln w="9525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77396" y="1317724"/>
            <a:ext cx="21337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القادم من تحليلات الذكاء الاصطناعي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2000" y="1803499"/>
            <a:ext cx="7772400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spcAft>
                <a:spcPts val="14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التحليلات الذكية للبيانات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2616101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 بياناتك الضخمة إلى قرارات عمل فورية — استعلامات SQL بلغة طبيعية، لوحات تحكم تفاعلية، وتقارير AI تنفيذية في دقائق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4660999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تقديمي تعريفي للشركات والمؤسسات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58726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تفشل أغلب الشركات في استثمار بياناتها؟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77533" y="1466701"/>
            <a:ext cx="2404467" cy="3067199"/>
          </a:xfrm>
          <a:prstGeom prst="roundRect">
            <a:avLst>
              <a:gd name="adj" fmla="val 5282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88325" y="1704826"/>
            <a:ext cx="355550" cy="355550"/>
          </a:xfrm>
          <a:prstGeom prst="roundRect">
            <a:avLst>
              <a:gd name="adj" fmla="val 64295"/>
            </a:avLst>
          </a:prstGeom>
          <a:solidFill>
            <a:srgbClr val="1E2A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26884" y="1777752"/>
            <a:ext cx="800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5658" y="2212777"/>
            <a:ext cx="196678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 الكامل على فريق تقني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5658" y="2533352"/>
            <a:ext cx="196678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سؤال تحليلي بسيط يحتاج مهندس بيانات لكتابة استعلام SQL، مما يبطئ القرار ويُثقل فريق تكنولوجيا المعلومات.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9766" y="1466701"/>
            <a:ext cx="2404616" cy="3067199"/>
          </a:xfrm>
          <a:prstGeom prst="roundRect">
            <a:avLst>
              <a:gd name="adj" fmla="val 5281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80707" y="1704826"/>
            <a:ext cx="355550" cy="355550"/>
          </a:xfrm>
          <a:prstGeom prst="roundRect">
            <a:avLst>
              <a:gd name="adj" fmla="val 64295"/>
            </a:avLst>
          </a:prstGeom>
          <a:solidFill>
            <a:srgbClr val="1E2A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19266" y="1777752"/>
            <a:ext cx="800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07891" y="2212777"/>
            <a:ext cx="19669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مبعثرة وغير موثوقة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07891" y="2533352"/>
            <a:ext cx="196693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Excel وقواعد بيانات متفرقة بلا توصيف إحصائي أو فحص جودة، فتُتخذ القرارات على أرقام غير مؤكدة.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2000" y="1466701"/>
            <a:ext cx="2404616" cy="3067199"/>
          </a:xfrm>
          <a:prstGeom prst="roundRect">
            <a:avLst>
              <a:gd name="adj" fmla="val 5281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72941" y="1704826"/>
            <a:ext cx="355550" cy="355550"/>
          </a:xfrm>
          <a:prstGeom prst="roundRect">
            <a:avLst>
              <a:gd name="adj" fmla="val 64295"/>
            </a:avLst>
          </a:prstGeom>
          <a:solidFill>
            <a:srgbClr val="1E2A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11500" y="1777752"/>
            <a:ext cx="800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0125" y="2212777"/>
            <a:ext cx="19669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تُعدّ يدوياً وتستغرق أياماً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0125" y="2533352"/>
            <a:ext cx="196693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الأرقام إلى تقرير تنفيذي مفهوم يستهلك وقتاً طويلاً من المحللين بدل التركيز على القرارات الاستراتيجية.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58726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واحدة تغطي رحلة البيانات بأكملها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314301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رفع الملف الخام إلى تقرير تنفيذي جاهز — بلا كود، وبخطوات تفاعلية بسيطة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30601" y="2006501"/>
            <a:ext cx="4051399" cy="2228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استيراد وتوصيف تلقائي:</a:t>
            </a:r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ارفع CSV أو Excel ودع المنصة تكتشف الأعمدة والأنواع وتقيس الجودة فوراً.</a:t>
            </a:r>
            <a:endParaRPr lang="en-US" sz="1300" dirty="0"/>
          </a:p>
          <a:p>
            <a:pPr algn="l" marL="342900" indent="-3429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استكشاف بلغة طبيعية:</a:t>
            </a:r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اسأل بالعربية أو الإنجليزية، واحصل على SQL دقيق وآمن تلقائياً.</a:t>
            </a:r>
            <a:endParaRPr lang="en-US" sz="1300" dirty="0"/>
          </a:p>
          <a:p>
            <a:pPr algn="l" marL="342900" indent="-3429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نمذجة ذكية للعلاقات:</a:t>
            </a:r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بناء مخطط ERD واقتراح علاقات الجداول بمساعدة الذكاء الاصطناعي.</a:t>
            </a:r>
            <a:endParaRPr lang="en-US" sz="1300" dirty="0"/>
          </a:p>
          <a:p>
            <a:pPr algn="l" marL="342900" indent="-3429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لوحات تحكم ثم تقرير AI:</a:t>
            </a:r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تصوير تفاعلي للنتائج، ثم تأليف سردي تنفيذي قابل للتصدير مباشرة.</a:t>
            </a:r>
            <a:endParaRPr lang="en-US" sz="1300" dirty="0"/>
          </a:p>
        </p:txBody>
      </p:sp>
      <p:pic>
        <p:nvPicPr>
          <p:cNvPr id="6" name="Image 0" descr="C:\Users\Ahmad\Desktop\data_analist_allthing\marketing\assets\ic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00" y="1406426"/>
            <a:ext cx="3555950" cy="3555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1598" y="457200"/>
            <a:ext cx="2260402" cy="279202"/>
          </a:xfrm>
          <a:prstGeom prst="roundRect">
            <a:avLst>
              <a:gd name="adj" fmla="val 63682"/>
            </a:avLst>
          </a:prstGeom>
          <a:solidFill>
            <a:srgbClr val="0F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51229" y="520601"/>
            <a:ext cx="7681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مزايا الاستكشاف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914102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OLAP فوري + مستكشف بيانات تفاعلي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2000" y="1387078"/>
            <a:ext cx="777240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20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تجميع وحساب في الذاكرة للبيانات الضخمة، بلا انتظار ولا حاجة لكتابة كود معقّد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60566" y="1888480"/>
            <a:ext cx="2421434" cy="2645420"/>
          </a:xfrm>
          <a:prstGeom prst="roundRect">
            <a:avLst>
              <a:gd name="adj" fmla="val 4196"/>
            </a:avLst>
          </a:prstGeom>
          <a:solidFill>
            <a:srgbClr val="141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362950" y="1888480"/>
            <a:ext cx="0" cy="264542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63717" y="2091630"/>
            <a:ext cx="20165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تجميع فائقة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63717" y="2402681"/>
            <a:ext cx="201657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تجميع وحساب فوري في الذاكرة للبيانات ومطابقة التوزيعات الإحصائية بأقل من 10 ميلي ثانية.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61283" y="1888480"/>
            <a:ext cx="2421582" cy="2645420"/>
          </a:xfrm>
          <a:prstGeom prst="roundRect">
            <a:avLst>
              <a:gd name="adj" fmla="val 4196"/>
            </a:avLst>
          </a:prstGeom>
          <a:solidFill>
            <a:srgbClr val="141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763816" y="1888480"/>
            <a:ext cx="0" cy="264542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4434" y="2091630"/>
            <a:ext cx="2016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فلترة وتجميع تفاعلي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4434" y="2402681"/>
            <a:ext cx="20167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استكشاف الأعمدة، تطبيق فلاتر متعددة، وتجميع النتائج (Group By) دون كتابة أي استعلام.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2000" y="1888480"/>
            <a:ext cx="2421582" cy="2645420"/>
          </a:xfrm>
          <a:prstGeom prst="roundRect">
            <a:avLst>
              <a:gd name="adj" fmla="val 4196"/>
            </a:avLst>
          </a:prstGeom>
          <a:solidFill>
            <a:srgbClr val="141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164532" y="1888480"/>
            <a:ext cx="0" cy="264542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5150" y="2091630"/>
            <a:ext cx="2016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فوري للنتائج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5150" y="2402681"/>
            <a:ext cx="20167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أي نتيجة استكشاف مباشرة إلى CSV لمشاركتها مع الفريق أو استخدامها في أدوات أخرى.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67698" y="457200"/>
            <a:ext cx="2514302" cy="279202"/>
          </a:xfrm>
          <a:prstGeom prst="roundRect">
            <a:avLst>
              <a:gd name="adj" fmla="val 63682"/>
            </a:avLst>
          </a:prstGeom>
          <a:solidFill>
            <a:srgbClr val="1B0F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59291" y="520601"/>
            <a:ext cx="5559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الذكي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914102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SQL ذكي داخل ساندبوكس 9 طبقات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2000" y="1387078"/>
            <a:ext cx="777240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20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الأسئلة الطبيعية (عربي/إنجليزي) إلى SQL دقيق، مع تحقق أمني كامل قبل أي تنفيذ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73650" y="2389882"/>
            <a:ext cx="3708350" cy="587722"/>
          </a:xfrm>
          <a:prstGeom prst="roundRect">
            <a:avLst>
              <a:gd name="adj" fmla="val 21609"/>
            </a:avLst>
          </a:prstGeom>
          <a:solidFill>
            <a:srgbClr val="141B2E"/>
          </a:solidFill>
          <a:ln w="9525">
            <a:solidFill>
              <a:srgbClr val="2A22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11775" y="2577108"/>
            <a:ext cx="32967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المدخل: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"ما هي أعلى 5 مدن من حيث المبيعات الشهر الماضي؟"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73650" y="3104555"/>
            <a:ext cx="3708350" cy="800993"/>
          </a:xfrm>
          <a:prstGeom prst="roundRect">
            <a:avLst>
              <a:gd name="adj" fmla="val 15855"/>
            </a:avLst>
          </a:prstGeom>
          <a:solidFill>
            <a:srgbClr val="141B2E"/>
          </a:solidFill>
          <a:ln w="9525">
            <a:solidFill>
              <a:srgbClr val="2A22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1775" y="3291780"/>
            <a:ext cx="329674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استعلام SQL جاهز للتنفيذ + تفسير مبسّط للمنطق المستخدم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2446437"/>
            <a:ext cx="3708499" cy="1529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1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نحوي وأمني من كل استعلام قبل التنفيذ (منع الحذف أو التعديل غير المصرّح).</a:t>
            </a:r>
            <a:endParaRPr lang="en-US" sz="1150" dirty="0"/>
          </a:p>
          <a:p>
            <a:pPr algn="l" marL="342900" indent="-342900">
              <a:lnSpc>
                <a:spcPts val="161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تقدير الكلفة الحسابية مسبقاً لتفادي الاستعلامات الثقيلة.</a:t>
            </a:r>
            <a:endParaRPr lang="en-US" sz="1150" dirty="0"/>
          </a:p>
          <a:p>
            <a:pPr algn="l" marL="342900" indent="-342900">
              <a:lnSpc>
                <a:spcPts val="161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تدقيق (Audit Log) كامل لكل استعلام يُنفَّذ على البيانات.</a:t>
            </a:r>
            <a:endParaRPr lang="en-US" sz="1150" dirty="0"/>
          </a:p>
          <a:p>
            <a:pPr algn="l" marL="342900" indent="-342900">
              <a:lnSpc>
                <a:spcPts val="161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يفتح الباب أمام الموظفين غير التقنيين للوصول لإجابات دقيقة فوراً.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648" y="457200"/>
            <a:ext cx="2768352" cy="279202"/>
          </a:xfrm>
          <a:prstGeom prst="roundRect">
            <a:avLst>
              <a:gd name="adj" fmla="val 63682"/>
            </a:avLst>
          </a:prstGeom>
          <a:solidFill>
            <a:srgbClr val="052E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61163" y="520601"/>
            <a:ext cx="1063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نمذجة البيانات والجودة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914102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نمذجة علاقات ذكية + توصيف إحصائي دقيق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2000" y="1387078"/>
            <a:ext cx="7772400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20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بنية بياناتك وجودتها تلقائياً قبل اتخاذ أي قرار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60566" y="1888480"/>
            <a:ext cx="2421434" cy="2645420"/>
          </a:xfrm>
          <a:prstGeom prst="roundRect">
            <a:avLst>
              <a:gd name="adj" fmla="val 5245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73242" y="2101155"/>
            <a:ext cx="20360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ERD بمساعدة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3242" y="2412206"/>
            <a:ext cx="203600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اقتراح العلاقات بين الجداول تلقائياً وبناء مخطط كيانات-علاقات (ERD) تفاعلي قابل للتعديل.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1283" y="1888480"/>
            <a:ext cx="2421582" cy="2645420"/>
          </a:xfrm>
          <a:prstGeom prst="roundRect">
            <a:avLst>
              <a:gd name="adj" fmla="val 5244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73959" y="2101155"/>
            <a:ext cx="20361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القيم الشاذة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73959" y="2412206"/>
            <a:ext cx="203615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القيم المتطرفة والمفقودة تلقائياً، مع حساب المتوسطات والانحراف المعياري لكل عمود.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000" y="1888480"/>
            <a:ext cx="2421582" cy="2645420"/>
          </a:xfrm>
          <a:prstGeom prst="roundRect">
            <a:avLst>
              <a:gd name="adj" fmla="val 5244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74675" y="2101155"/>
            <a:ext cx="20361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التوزيعات التكرارية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4675" y="2412206"/>
            <a:ext cx="203615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توزيع القيم داخل كل عمود بصرياً لاكتشاف الأنماط والمشكلات قبل التحليل المعمّق.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1747" y="997595"/>
            <a:ext cx="2387352" cy="279202"/>
          </a:xfrm>
          <a:prstGeom prst="roundRect">
            <a:avLst>
              <a:gd name="adj" fmla="val 63682"/>
            </a:avLst>
          </a:prstGeom>
          <a:solidFill>
            <a:srgbClr val="3A0F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88759" y="1060996"/>
            <a:ext cx="655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المساعد الذكي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454497"/>
            <a:ext cx="4015841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 — محادثة تحوّل الأرقام إلى قرارات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439888"/>
            <a:ext cx="3937099" cy="170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محادثة تفاعلية:</a:t>
            </a:r>
            <a:pPr algn="l" indent="0" marL="0">
              <a:lnSpc>
                <a:spcPts val="174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اسأل المساعد عن بياناتك واحصل على رؤى فورية مدعومة بنماذج ذكاء اصطناعي متعددة.</a:t>
            </a:r>
            <a:endParaRPr lang="en-US" sz="1200" dirty="0"/>
          </a:p>
          <a:p>
            <a:pPr algn="l" marL="342900" indent="-342900">
              <a:lnSpc>
                <a:spcPts val="17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رسوم بيانية آلياً:</a:t>
            </a:r>
            <a:pPr algn="l" indent="0" marL="0">
              <a:lnSpc>
                <a:spcPts val="174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يقترح المساعد المخطط الأنسب لبياناتك ويُنشئه مباشرة.</a:t>
            </a:r>
            <a:endParaRPr lang="en-US" sz="1200" dirty="0"/>
          </a:p>
          <a:p>
            <a:pPr algn="l" marL="342900" indent="-342900">
              <a:lnSpc>
                <a:spcPts val="174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تأليف سردي للتقارير:</a:t>
            </a:r>
            <a:pPr algn="l" indent="0" marL="0">
              <a:lnSpc>
                <a:spcPts val="174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تحويل النتائج الرقمية إلى قصة تنفيذية مفهومة بلا جهد يدوي.</a:t>
            </a:r>
            <a:endParaRPr lang="en-US" sz="1200" dirty="0"/>
          </a:p>
        </p:txBody>
      </p:sp>
      <p:pic>
        <p:nvPicPr>
          <p:cNvPr id="6" name="Image 0" descr="C:\Users\Ahmad\Desktop\data_analist_allthing\marketing\assets\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370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9598" y="457200"/>
            <a:ext cx="3022402" cy="279202"/>
          </a:xfrm>
          <a:prstGeom prst="roundRect">
            <a:avLst>
              <a:gd name="adj" fmla="val 63682"/>
            </a:avLst>
          </a:prstGeom>
          <a:solidFill>
            <a:srgbClr val="0F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59079" y="520601"/>
            <a:ext cx="10661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لوحات التحكم والتقارير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914102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البيانات إلى قصة بصرية تُقنع صانع القرار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60566" y="1539478"/>
            <a:ext cx="2421434" cy="2994422"/>
          </a:xfrm>
          <a:prstGeom prst="roundRect">
            <a:avLst>
              <a:gd name="adj" fmla="val 5245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37574" y="1752154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E2A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58571" y="1853654"/>
            <a:ext cx="1937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3242" y="2310854"/>
            <a:ext cx="2036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لوحات تحكم تفاعلية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73242" y="2612380"/>
            <a:ext cx="2036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لوحات مخصصة بالسحب والإفلات، مع تحديث فوري للمؤشرات الرئيسية (KPIs).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61283" y="1539478"/>
            <a:ext cx="2421582" cy="2994422"/>
          </a:xfrm>
          <a:prstGeom prst="roundRect">
            <a:avLst>
              <a:gd name="adj" fmla="val 5244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38440" y="1752154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E2A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4589" y="1839367"/>
            <a:ext cx="1422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73959" y="2310854"/>
            <a:ext cx="20361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احترافي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73959" y="2612380"/>
            <a:ext cx="20361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أي لوحة تحكم كصورة أو ملف جاهز للمشاركة مع الإدارة أو العملاء مباشرة.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2000" y="1539478"/>
            <a:ext cx="2421582" cy="2994422"/>
          </a:xfrm>
          <a:prstGeom prst="roundRect">
            <a:avLst>
              <a:gd name="adj" fmla="val 5244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39157" y="1752154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E2A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59856" y="1839367"/>
            <a:ext cx="1943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4675" y="2310854"/>
            <a:ext cx="20361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AI تنفيذي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74675" y="2612380"/>
            <a:ext cx="203615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تأليف سردي تلقائي مبني على البيانات الفعلية، يحوّل الأرقام إلى توصيات واضحة قابلة للتصدير.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3648" y="457200"/>
            <a:ext cx="2768352" cy="279202"/>
          </a:xfrm>
          <a:prstGeom prst="roundRect">
            <a:avLst>
              <a:gd name="adj" fmla="val 63682"/>
            </a:avLst>
          </a:prstGeom>
          <a:solidFill>
            <a:srgbClr val="2A0F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7812" y="520601"/>
            <a:ext cx="7206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والمرونة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914102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مبنية على الثقة: أمان صارم ومرونة في اختيار الذكاء الاصطناعي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2000" y="1387078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بياناتك تبقى تحت سيطرتك الكاملة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0350" y="1841004"/>
            <a:ext cx="1771650" cy="2692896"/>
          </a:xfrm>
          <a:prstGeom prst="roundRect">
            <a:avLst>
              <a:gd name="adj" fmla="val 7168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23025" y="2053679"/>
            <a:ext cx="1373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متعدد لمزوّدي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23025" y="2355205"/>
            <a:ext cx="13732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مزوّد الذكاء الاصطناعي الذي يناسبك (سحابي أو محلي عبر Ollama) حسب سياسات خصوصية شركتك.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0850" y="1841004"/>
            <a:ext cx="1771799" cy="2692896"/>
          </a:xfrm>
          <a:prstGeom prst="roundRect">
            <a:avLst>
              <a:gd name="adj" fmla="val 7168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2053679"/>
            <a:ext cx="137337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بيانات المستخدمين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526" y="2555230"/>
            <a:ext cx="137337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المرور مُشفّرة بالكامل (bcrypt) وجلسات دخول قابلة للإبطال الفوري عند الحاجة.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11500" y="1841004"/>
            <a:ext cx="1771650" cy="2692896"/>
          </a:xfrm>
          <a:prstGeom prst="roundRect">
            <a:avLst>
              <a:gd name="adj" fmla="val 7168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24175" y="2053679"/>
            <a:ext cx="13732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تدقيق شامل (Audit)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4175" y="2555230"/>
            <a:ext cx="1373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كل عملية واستعلام داخل المنصة لضمان الشفافية والامتثال الداخلي.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2000" y="1841004"/>
            <a:ext cx="1771799" cy="2692896"/>
          </a:xfrm>
          <a:prstGeom prst="roundRect">
            <a:avLst>
              <a:gd name="adj" fmla="val 7168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74675" y="2053679"/>
            <a:ext cx="13733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ثنائية اللغة بالكامل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4675" y="2355205"/>
            <a:ext cx="137337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عربية RTL كاملة وإنجليزية جنباً إلى جنب، لفرق عمل متعددة الجنسيات.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تحتاجها شركتك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58726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عائد استثمار ملموس من اليوم الأول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660850" y="1422202"/>
            <a:ext cx="3721150" cy="1479649"/>
          </a:xfrm>
          <a:prstGeom prst="roundRect">
            <a:avLst>
              <a:gd name="adj" fmla="val 6867"/>
            </a:avLst>
          </a:prstGeom>
          <a:solidFill>
            <a:srgbClr val="141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362950" y="1422202"/>
            <a:ext cx="0" cy="1479649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38551" y="1837283"/>
            <a:ext cx="33942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قرارات أسرع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38551" y="2113508"/>
            <a:ext cx="33942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تقليص وقت الوصول للإجابة من أيام إلى دقائق عبر الاستعلام بلغة طبيعية بدل انتظار فريق تقني.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0850" y="3054251"/>
            <a:ext cx="3721150" cy="1479649"/>
          </a:xfrm>
          <a:prstGeom prst="roundRect">
            <a:avLst>
              <a:gd name="adj" fmla="val 6867"/>
            </a:avLst>
          </a:prstGeom>
          <a:solidFill>
            <a:srgbClr val="141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362950" y="3054251"/>
            <a:ext cx="0" cy="1479649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8551" y="3469332"/>
            <a:ext cx="33942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استقلالية الفرق غير التقنية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38551" y="3745557"/>
            <a:ext cx="33942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تمكين المبيعات، التسويق، والمالية من استكشاف بياناتهم بأنفسهم دون الاعتماد على المبرمجين.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1422202"/>
            <a:ext cx="3721150" cy="1479649"/>
          </a:xfrm>
          <a:prstGeom prst="roundRect">
            <a:avLst>
              <a:gd name="adj" fmla="val 6867"/>
            </a:avLst>
          </a:prstGeom>
          <a:solidFill>
            <a:srgbClr val="141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464100" y="1422202"/>
            <a:ext cx="0" cy="1479649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701" y="1837283"/>
            <a:ext cx="33942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تقليل الأخطاء وتحسين الجودة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9701" y="2113508"/>
            <a:ext cx="33942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القيم الشاذة والمفقودة تلقائياً قبل اتخاذ أي قرار مبني على بيانات غير دقيقة.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2000" y="3054251"/>
            <a:ext cx="3721150" cy="1479649"/>
          </a:xfrm>
          <a:prstGeom prst="roundRect">
            <a:avLst>
              <a:gd name="adj" fmla="val 6867"/>
            </a:avLst>
          </a:prstGeom>
          <a:solidFill>
            <a:srgbClr val="141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464100" y="3054251"/>
            <a:ext cx="0" cy="1479649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701" y="3469332"/>
            <a:ext cx="33942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تنفيذية جاهزة للعرض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9701" y="3745557"/>
            <a:ext cx="33942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ساعات العمل اليدوي في إعداد التقارير عبر توليد سردية تنفيذية مباشرة من البيانات.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الفئات المستهدفة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58726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مصمّمة لكل شركة تتعامل مع بيانات حقيقية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610350" y="1422202"/>
            <a:ext cx="1771650" cy="3111698"/>
          </a:xfrm>
          <a:prstGeom prst="roundRect">
            <a:avLst>
              <a:gd name="adj" fmla="val 7168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23025" y="1634877"/>
            <a:ext cx="13732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الشركات الناشئة والمتوسطة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23025" y="2136428"/>
            <a:ext cx="13732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ثقافة قرارات مبنية على بيانات دون الحاجة لتوظيف فريق تحليل بيانات كامل من اليوم الأول.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0850" y="1422202"/>
            <a:ext cx="1771799" cy="3111698"/>
          </a:xfrm>
          <a:prstGeom prst="roundRect">
            <a:avLst>
              <a:gd name="adj" fmla="val 7168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3526" y="1634877"/>
            <a:ext cx="13733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فرق المبيعات والتسويق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73526" y="1936403"/>
            <a:ext cx="137337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استكشاف أداء الحملات والمبيعات بالأسئلة الطبيعية، وبناء لوحات متابعة لحظية للمؤشرات.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11500" y="1422202"/>
            <a:ext cx="1771650" cy="3111698"/>
          </a:xfrm>
          <a:prstGeom prst="roundRect">
            <a:avLst>
              <a:gd name="adj" fmla="val 7168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24175" y="1634877"/>
            <a:ext cx="1373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 المالية والتنفيذية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24175" y="1936403"/>
            <a:ext cx="1373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تنفيذية جاهزة وموثوقة لدعم اجتماعات مجلس الإدارة واتخاذ القرار الاستراتيجي.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2000" y="1422202"/>
            <a:ext cx="1771799" cy="3111698"/>
          </a:xfrm>
          <a:prstGeom prst="roundRect">
            <a:avLst>
              <a:gd name="adj" fmla="val 7168"/>
            </a:avLst>
          </a:prstGeom>
          <a:solidFill>
            <a:srgbClr val="141B2E"/>
          </a:solidFill>
          <a:ln w="9525"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74675" y="1634877"/>
            <a:ext cx="137337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فرق تكنولوجيا المعلومات والبيانات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4675" y="2136428"/>
            <a:ext cx="137337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تفريغ الفريق التقني من الاستعلامات الروتينية، مع سجل تدقيق وأمان كامل على مستوى المؤسسة.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تعمل المنصة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58726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 خطوات بسيطة من البيانات الخام إلى القرار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59700" y="1447651"/>
            <a:ext cx="622250" cy="622250"/>
          </a:xfrm>
          <a:prstGeom prst="roundRect">
            <a:avLst>
              <a:gd name="adj" fmla="val 46943"/>
            </a:avLst>
          </a:prstGeom>
          <a:solidFill>
            <a:srgbClr val="1E2A44"/>
          </a:solidFill>
          <a:ln w="19050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05321" y="1625352"/>
            <a:ext cx="1310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70176" y="2196852"/>
            <a:ext cx="6012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البيانات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5426" y="2444502"/>
            <a:ext cx="1450797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استيراد CSV/Excel وتوصيف تلقائي للأعمدة والجودة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10399" y="1447651"/>
            <a:ext cx="622250" cy="622250"/>
          </a:xfrm>
          <a:prstGeom prst="roundRect">
            <a:avLst>
              <a:gd name="adj" fmla="val 46943"/>
            </a:avLst>
          </a:prstGeom>
          <a:solidFill>
            <a:srgbClr val="1E2A44"/>
          </a:solidFill>
          <a:ln w="19050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56020" y="1625352"/>
            <a:ext cx="1310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46074" y="2196852"/>
            <a:ext cx="5508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الاستكشاف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5975" y="2444502"/>
            <a:ext cx="1450949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استعلام بلغة طبيعية أو تصفية تفاعلية فورية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60949" y="1447651"/>
            <a:ext cx="622250" cy="622250"/>
          </a:xfrm>
          <a:prstGeom prst="roundRect">
            <a:avLst>
              <a:gd name="adj" fmla="val 46943"/>
            </a:avLst>
          </a:prstGeom>
          <a:solidFill>
            <a:srgbClr val="1E2A44"/>
          </a:solidFill>
          <a:ln w="19050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06571" y="1625352"/>
            <a:ext cx="1310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4064" y="2196852"/>
            <a:ext cx="376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النمذجة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6676" y="2444502"/>
            <a:ext cx="1450797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علاقات الجداول ومخطط ERD بمساعدة AI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11648" y="1447651"/>
            <a:ext cx="622250" cy="622250"/>
          </a:xfrm>
          <a:prstGeom prst="roundRect">
            <a:avLst>
              <a:gd name="adj" fmla="val 46943"/>
            </a:avLst>
          </a:prstGeom>
          <a:solidFill>
            <a:srgbClr val="1E2A44"/>
          </a:solidFill>
          <a:ln w="19050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57270" y="1625352"/>
            <a:ext cx="1310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21974" y="2196852"/>
            <a:ext cx="60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97225" y="2444502"/>
            <a:ext cx="1450949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لوحة تفاعلية بالمؤشرات الرئيسية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62199" y="1447651"/>
            <a:ext cx="622250" cy="622250"/>
          </a:xfrm>
          <a:prstGeom prst="roundRect">
            <a:avLst>
              <a:gd name="adj" fmla="val 46943"/>
            </a:avLst>
          </a:prstGeom>
          <a:solidFill>
            <a:srgbClr val="1E2A44"/>
          </a:solidFill>
          <a:ln w="19050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07820" y="1625352"/>
            <a:ext cx="1310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81594" y="2196852"/>
            <a:ext cx="7833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التقرير التنفيذي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775" y="2444502"/>
            <a:ext cx="1450949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تأليف سردي AI جاهز للتصدير والمشاركة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hmad\Desktop\data_analist_allthing\marketing\assets\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893862" y="1684437"/>
            <a:ext cx="535627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رحلة بياناتك نحو قرارات أذكى اليوم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9792" y="2328863"/>
            <a:ext cx="67644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Aft>
                <a:spcPts val="2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انضم إلى الشركات التي تحوّلت من جداول بيانات مبعثرة إلى تحليلات ذكية فورية مدعومة بالذكاء الاصطناعي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274516" y="2944713"/>
            <a:ext cx="2594967" cy="514350"/>
          </a:xfrm>
          <a:prstGeom prst="roundRect">
            <a:avLst>
              <a:gd name="adj" fmla="val 24691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637187" y="3097113"/>
            <a:ext cx="1869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احجز عرضاً تجريبياً مجانياً الآن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منصة التحليلات الذكية للبيانات</dc:title>
  <dc:subject>PptxGenJS Presentation</dc:subject>
  <dc:creator>AI Analytics Platform</dc:creator>
  <cp:lastModifiedBy>AI Analytics Platform</cp:lastModifiedBy>
  <cp:revision>1</cp:revision>
  <dcterms:created xsi:type="dcterms:W3CDTF">2026-10-28T06:17:51Z</dcterms:created>
  <dcterms:modified xsi:type="dcterms:W3CDTF">2026-10-28T06:17:51Z</dcterms:modified>
</cp:coreProperties>
</file>